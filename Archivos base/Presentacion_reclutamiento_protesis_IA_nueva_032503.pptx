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2F10AB-D79D-4D19-9936-1F65615EF6BC}" v="4" dt="2026-08-03T19:20:21.0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rge Armando Ramirez Diaz" userId="d20e1669-2bd5-41a0-84c4-0d3cf5a9576b" providerId="ADAL" clId="{1F6BBA5D-E1AA-4E2E-8FD6-FD77B985326F}"/>
    <pc:docChg chg="custSel addSld delSld modSld">
      <pc:chgData name="Jorge Armando Ramirez Diaz" userId="d20e1669-2bd5-41a0-84c4-0d3cf5a9576b" providerId="ADAL" clId="{1F6BBA5D-E1AA-4E2E-8FD6-FD77B985326F}" dt="2026-08-03T19:21:17.769" v="304" actId="47"/>
      <pc:docMkLst>
        <pc:docMk/>
      </pc:docMkLst>
      <pc:sldChg chg="delSp mod">
        <pc:chgData name="Jorge Armando Ramirez Diaz" userId="d20e1669-2bd5-41a0-84c4-0d3cf5a9576b" providerId="ADAL" clId="{1F6BBA5D-E1AA-4E2E-8FD6-FD77B985326F}" dt="2026-08-03T19:11:33.342" v="0" actId="478"/>
        <pc:sldMkLst>
          <pc:docMk/>
          <pc:sldMk cId="0" sldId="256"/>
        </pc:sldMkLst>
        <pc:spChg chg="del">
          <ac:chgData name="Jorge Armando Ramirez Diaz" userId="d20e1669-2bd5-41a0-84c4-0d3cf5a9576b" providerId="ADAL" clId="{1F6BBA5D-E1AA-4E2E-8FD6-FD77B985326F}" dt="2026-08-03T19:11:33.342" v="0" actId="478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Jorge Armando Ramirez Diaz" userId="d20e1669-2bd5-41a0-84c4-0d3cf5a9576b" providerId="ADAL" clId="{1F6BBA5D-E1AA-4E2E-8FD6-FD77B985326F}" dt="2026-08-03T19:21:17.769" v="304" actId="47"/>
        <pc:sldMkLst>
          <pc:docMk/>
          <pc:sldMk cId="3630590325" sldId="261"/>
        </pc:sldMkLst>
      </pc:sldChg>
      <pc:sldChg chg="addSp modSp add mod">
        <pc:chgData name="Jorge Armando Ramirez Diaz" userId="d20e1669-2bd5-41a0-84c4-0d3cf5a9576b" providerId="ADAL" clId="{1F6BBA5D-E1AA-4E2E-8FD6-FD77B985326F}" dt="2026-08-03T19:21:07.933" v="303" actId="3626"/>
        <pc:sldMkLst>
          <pc:docMk/>
          <pc:sldMk cId="3793745305" sldId="262"/>
        </pc:sldMkLst>
        <pc:spChg chg="mod">
          <ac:chgData name="Jorge Armando Ramirez Diaz" userId="d20e1669-2bd5-41a0-84c4-0d3cf5a9576b" providerId="ADAL" clId="{1F6BBA5D-E1AA-4E2E-8FD6-FD77B985326F}" dt="2026-08-03T19:13:15.892" v="37" actId="20577"/>
          <ac:spMkLst>
            <pc:docMk/>
            <pc:sldMk cId="3793745305" sldId="262"/>
            <ac:spMk id="4" creationId="{CEA14E73-0B2F-BD20-993F-502BB81D0C96}"/>
          </ac:spMkLst>
        </pc:spChg>
        <pc:spChg chg="add mod">
          <ac:chgData name="Jorge Armando Ramirez Diaz" userId="d20e1669-2bd5-41a0-84c4-0d3cf5a9576b" providerId="ADAL" clId="{1F6BBA5D-E1AA-4E2E-8FD6-FD77B985326F}" dt="2026-08-03T19:15:45.637" v="265" actId="1076"/>
          <ac:spMkLst>
            <pc:docMk/>
            <pc:sldMk cId="3793745305" sldId="262"/>
            <ac:spMk id="6" creationId="{59342722-9145-D615-4A68-C73AEF3D720A}"/>
          </ac:spMkLst>
        </pc:spChg>
        <pc:spChg chg="add mod">
          <ac:chgData name="Jorge Armando Ramirez Diaz" userId="d20e1669-2bd5-41a0-84c4-0d3cf5a9576b" providerId="ADAL" clId="{1F6BBA5D-E1AA-4E2E-8FD6-FD77B985326F}" dt="2026-08-03T19:15:54.470" v="267" actId="1076"/>
          <ac:spMkLst>
            <pc:docMk/>
            <pc:sldMk cId="3793745305" sldId="262"/>
            <ac:spMk id="8" creationId="{7D423725-9043-5932-3C1F-ABCEEF0C4A2C}"/>
          </ac:spMkLst>
        </pc:spChg>
        <pc:spChg chg="mod">
          <ac:chgData name="Jorge Armando Ramirez Diaz" userId="d20e1669-2bd5-41a0-84c4-0d3cf5a9576b" providerId="ADAL" clId="{1F6BBA5D-E1AA-4E2E-8FD6-FD77B985326F}" dt="2026-08-03T19:15:09.223" v="262" actId="313"/>
          <ac:spMkLst>
            <pc:docMk/>
            <pc:sldMk cId="3793745305" sldId="262"/>
            <ac:spMk id="24" creationId="{044E5C6E-4FE5-05A8-6CA4-EE51F607CD35}"/>
          </ac:spMkLst>
        </pc:spChg>
        <pc:spChg chg="mod">
          <ac:chgData name="Jorge Armando Ramirez Diaz" userId="d20e1669-2bd5-41a0-84c4-0d3cf5a9576b" providerId="ADAL" clId="{1F6BBA5D-E1AA-4E2E-8FD6-FD77B985326F}" dt="2026-08-03T19:21:07.933" v="303" actId="3626"/>
          <ac:spMkLst>
            <pc:docMk/>
            <pc:sldMk cId="3793745305" sldId="262"/>
            <ac:spMk id="33" creationId="{8A1F7466-DF1D-D682-EF52-7B4E6E0CDB9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93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8ADD-C106-15A8-1209-2041639B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224F3-44BF-7049-B57B-0088C76FC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75BB4-AE1C-426D-2466-C6C5ED55C7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DD76B-7DE2-4DE9-A5DF-DD2223C57B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7364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55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DE INVESTIGACIÓN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5760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Prótesis de brazo accesible con control inteligente basado en modelos compactos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58368" y="3894649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D7EEF8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3949513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Aprendizaje por refuerzo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523744" y="3894649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E7F7E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96896" y="3949513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Modelos compactos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069080" y="3894649"/>
            <a:ext cx="1325880" cy="347472"/>
          </a:xfrm>
          <a:prstGeom prst="roundRect">
            <a:avLst>
              <a:gd name="adj" fmla="val 21053"/>
            </a:avLst>
          </a:prstGeom>
          <a:solidFill>
            <a:srgbClr val="F0F4F7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42232" y="3949513"/>
            <a:ext cx="1179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Robótica abierta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367028" y="3254829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Prótesis + IA + validación experimental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77930" y="6015889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Dr. Jorge Armando Ramírez Díaz</a:t>
            </a:r>
          </a:p>
          <a:p>
            <a:pPr marL="0" indent="0">
              <a:buNone/>
            </a:pPr>
            <a:r>
              <a:rPr lang="en-US" sz="1250" dirty="0">
                <a:solidFill>
                  <a:srgbClr val="5F6F78"/>
                </a:solidFill>
                <a:latin typeface="Aptos" pitchFamily="34" charset="0"/>
              </a:rPr>
              <a:t>Dr. Juvenal Rodriguez Resendiz</a:t>
            </a:r>
            <a:endParaRPr lang="en-US" sz="1250" dirty="0"/>
          </a:p>
        </p:txBody>
      </p:sp>
      <p:pic>
        <p:nvPicPr>
          <p:cNvPr id="17" name="0Gclg6ejYZMqfQq5Dr1eE">
            <a:hlinkClick r:id="" action="ppaction://media"/>
            <a:extLst>
              <a:ext uri="{FF2B5EF4-FFF2-40B4-BE49-F238E27FC236}">
                <a16:creationId xmlns:a16="http://schemas.microsoft.com/office/drawing/2014/main" id="{F2F197FF-0588-9472-9AE8-9064E896A74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34409" r="34258"/>
          <a:stretch>
            <a:fillRect/>
          </a:stretch>
        </p:blipFill>
        <p:spPr>
          <a:xfrm>
            <a:off x="7599871" y="955621"/>
            <a:ext cx="2846717" cy="5110480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29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noProof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real con alto impacto social</a:t>
            </a:r>
            <a:endParaRPr lang="es-MX" sz="2400" noProof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es desarrollar tecnología local, abierta y más asequible.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13232" y="196596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965960"/>
            <a:ext cx="118872" cy="1005840"/>
          </a:xfrm>
          <a:prstGeom prst="rect">
            <a:avLst/>
          </a:prstGeom>
          <a:solidFill>
            <a:srgbClr val="8FC7E8"/>
          </a:solidFill>
          <a:ln w="12700">
            <a:solidFill>
              <a:srgbClr val="8FC7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214884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8.9 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69264" y="258775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con discapacidad en México</a:t>
            </a:r>
            <a:endParaRPr lang="en-US" sz="1320" dirty="0"/>
          </a:p>
        </p:txBody>
      </p:sp>
      <p:sp>
        <p:nvSpPr>
          <p:cNvPr id="10" name="Shape 8"/>
          <p:cNvSpPr/>
          <p:nvPr/>
        </p:nvSpPr>
        <p:spPr>
          <a:xfrm>
            <a:off x="713232" y="315468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" y="3154680"/>
            <a:ext cx="118872" cy="1005840"/>
          </a:xfrm>
          <a:prstGeom prst="rect">
            <a:avLst/>
          </a:prstGeom>
          <a:solidFill>
            <a:srgbClr val="7BD0A6"/>
          </a:solidFill>
          <a:ln w="12700">
            <a:solidFill>
              <a:srgbClr val="7BD0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9264" y="3337560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69264" y="3776472"/>
            <a:ext cx="257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reportó dificultad para mover o usar brazos o manos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713232" y="4343400"/>
            <a:ext cx="2926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  <a:effectLst>
            <a:outerShdw blurRad="1524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13232" y="4343400"/>
            <a:ext cx="118872" cy="1005840"/>
          </a:xfrm>
          <a:prstGeom prst="rect">
            <a:avLst/>
          </a:prstGeom>
          <a:solidFill>
            <a:srgbClr val="F7DFAE"/>
          </a:solidFill>
          <a:ln w="12700">
            <a:solidFill>
              <a:srgbClr val="F7DFA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3386" y="4448646"/>
            <a:ext cx="2578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$6,927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9264" y="4965192"/>
            <a:ext cx="2670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ingreso mensual promedio estimado para personas con discapacidad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3977640" y="1920240"/>
            <a:ext cx="7452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297680" y="2240280"/>
            <a:ext cx="2944368" cy="261984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MX" sz="1650" noProof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Buscamos construir una prótesis robótica de bajo costo que pueda aprender mejor, con menos ensayo y error.</a:t>
            </a:r>
            <a:endParaRPr lang="es-MX" sz="1650" noProof="0"/>
          </a:p>
        </p:txBody>
      </p:sp>
      <p:sp>
        <p:nvSpPr>
          <p:cNvPr id="21" name="Shape 18"/>
          <p:cNvSpPr/>
          <p:nvPr/>
        </p:nvSpPr>
        <p:spPr>
          <a:xfrm>
            <a:off x="4470205" y="5726212"/>
            <a:ext cx="6492240" cy="566928"/>
          </a:xfrm>
          <a:prstGeom prst="roundRect">
            <a:avLst/>
          </a:prstGeom>
          <a:solidFill>
            <a:srgbClr val="E7F7EF"/>
          </a:solidFill>
          <a:ln w="12700">
            <a:solidFill>
              <a:srgbClr val="7BD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671373" y="5890804"/>
            <a:ext cx="6126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Tecnología accesible + ciencia abierta + formación de talento</a:t>
            </a:r>
            <a:endParaRPr lang="en-US" sz="1450" dirty="0"/>
          </a:p>
        </p:txBody>
      </p:sp>
      <p:pic>
        <p:nvPicPr>
          <p:cNvPr id="25" name="400053075-3ccb0007-c99d-40c1-8628-71b2f0f8c4fa">
            <a:hlinkClick r:id="" action="ppaction://media"/>
            <a:extLst>
              <a:ext uri="{FF2B5EF4-FFF2-40B4-BE49-F238E27FC236}">
                <a16:creationId xmlns:a16="http://schemas.microsoft.com/office/drawing/2014/main" id="{FD0FB122-6DE1-FA95-9DDA-F6B4795CE9B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1385" b="5839"/>
          <a:stretch>
            <a:fillRect/>
          </a:stretch>
        </p:blipFill>
        <p:spPr>
          <a:xfrm>
            <a:off x="7853486" y="2082763"/>
            <a:ext cx="2944367" cy="3472571"/>
          </a:xfrm>
          <a:prstGeom prst="roundRect">
            <a:avLst>
              <a:gd name="adj" fmla="val 5439"/>
            </a:avLst>
          </a:prstGeom>
          <a:ln>
            <a:noFill/>
          </a:ln>
          <a:effectLst>
            <a:innerShdw blurRad="114300" dist="50800">
              <a:srgbClr val="000000">
                <a:alpha val="0"/>
              </a:srgbClr>
            </a:inn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673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cadena completa: señal, modelo, control y prótesis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Aprender un modelo compacto del sistema para decidir mejor y con menos datos.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939028" y="4104894"/>
            <a:ext cx="2286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16468" y="4104894"/>
            <a:ext cx="228600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365123" y="2113407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474851" y="3878199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Señales musculares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90188" y="3208782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3899916" y="497357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del mundo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67628" y="3208782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2"/>
          <p:cNvSpPr/>
          <p:nvPr/>
        </p:nvSpPr>
        <p:spPr>
          <a:xfrm>
            <a:off x="6277356" y="497357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inteligente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545068" y="3208782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8654796" y="497357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Prótesis robótica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687062" y="2348484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D7EEF8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4760214" y="2403348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Autonomía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6287262" y="2348484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E7F7E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6360414" y="240334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Estabilidad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7960614" y="2348484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0F4F7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8033766" y="2403348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Eficiencia de muestra</a:t>
            </a:r>
            <a:endParaRPr lang="en-US" sz="115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EFC98E7E-6614-D634-02A6-4E1EE6951A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713" t="18534" r="22780" b="24277"/>
          <a:stretch>
            <a:fillRect/>
          </a:stretch>
        </p:blipFill>
        <p:spPr>
          <a:xfrm>
            <a:off x="1689051" y="2694632"/>
            <a:ext cx="1436064" cy="986387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4D4D006F-BC8B-FCA7-D6B1-78BAB80C1C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96" t="14933" r="23641" b="50292"/>
          <a:stretch>
            <a:fillRect/>
          </a:stretch>
        </p:blipFill>
        <p:spPr>
          <a:xfrm>
            <a:off x="3876579" y="3862730"/>
            <a:ext cx="1952721" cy="869539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83D8399B-D56D-710A-A856-CFC1357724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88" r="25557"/>
          <a:stretch>
            <a:fillRect/>
          </a:stretch>
        </p:blipFill>
        <p:spPr>
          <a:xfrm>
            <a:off x="6547832" y="3465852"/>
            <a:ext cx="1293579" cy="1634699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A7D9107D-1215-9753-447B-A0C3D966E1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9846" y="3553363"/>
            <a:ext cx="1459676" cy="1459676"/>
          </a:xfrm>
          <a:prstGeom prst="rect">
            <a:avLst/>
          </a:prstGeom>
        </p:spPr>
      </p:pic>
      <p:sp>
        <p:nvSpPr>
          <p:cNvPr id="40" name="Shape 7">
            <a:extLst>
              <a:ext uri="{FF2B5EF4-FFF2-40B4-BE49-F238E27FC236}">
                <a16:creationId xmlns:a16="http://schemas.microsoft.com/office/drawing/2014/main" id="{C3C7C0DE-05A4-646E-7D31-A8EBE8A70FEC}"/>
              </a:ext>
            </a:extLst>
          </p:cNvPr>
          <p:cNvSpPr/>
          <p:nvPr/>
        </p:nvSpPr>
        <p:spPr>
          <a:xfrm>
            <a:off x="1376301" y="4323882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E0BBD2E9-B7AE-E5C3-D4D3-C8495C8F22B2}"/>
              </a:ext>
            </a:extLst>
          </p:cNvPr>
          <p:cNvSpPr/>
          <p:nvPr/>
        </p:nvSpPr>
        <p:spPr>
          <a:xfrm>
            <a:off x="1486029" y="6088674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50" b="1" noProof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Posición articular</a:t>
            </a:r>
            <a:endParaRPr lang="es-MX" sz="1150" noProof="0"/>
          </a:p>
        </p:txBody>
      </p:sp>
      <p:pic>
        <p:nvPicPr>
          <p:cNvPr id="48" name="Imagen 47">
            <a:extLst>
              <a:ext uri="{FF2B5EF4-FFF2-40B4-BE49-F238E27FC236}">
                <a16:creationId xmlns:a16="http://schemas.microsoft.com/office/drawing/2014/main" id="{3E88645F-88EE-2C22-F84F-52ED31C09F9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8852" b="90989" l="9888" r="89872">
                        <a14:foregroundMark x1="61643" y1="8852" x2="61643" y2="8852"/>
                        <a14:foregroundMark x1="34689" y1="90989" x2="34689" y2="909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64030" y="4481703"/>
            <a:ext cx="1572768" cy="1572768"/>
          </a:xfrm>
          <a:prstGeom prst="rect">
            <a:avLst/>
          </a:prstGeom>
        </p:spPr>
      </p:pic>
      <p:cxnSp>
        <p:nvCxnSpPr>
          <p:cNvPr id="52" name="Conector: angular 51">
            <a:extLst>
              <a:ext uri="{FF2B5EF4-FFF2-40B4-BE49-F238E27FC236}">
                <a16:creationId xmlns:a16="http://schemas.microsoft.com/office/drawing/2014/main" id="{83446681-5A2C-88F5-82CE-D5E7CA3F4EB6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3513963" y="3187827"/>
            <a:ext cx="276225" cy="1095375"/>
          </a:xfrm>
          <a:prstGeom prst="bentConnector3">
            <a:avLst>
              <a:gd name="adj1" fmla="val 53448"/>
            </a:avLst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ector: angular 53">
            <a:extLst>
              <a:ext uri="{FF2B5EF4-FFF2-40B4-BE49-F238E27FC236}">
                <a16:creationId xmlns:a16="http://schemas.microsoft.com/office/drawing/2014/main" id="{D9CA1E1F-AE2D-361F-FD3A-52156CE17D3E}"/>
              </a:ext>
            </a:extLst>
          </p:cNvPr>
          <p:cNvCxnSpPr>
            <a:stCxn id="40" idx="3"/>
            <a:endCxn id="12" idx="1"/>
          </p:cNvCxnSpPr>
          <p:nvPr/>
        </p:nvCxnSpPr>
        <p:spPr>
          <a:xfrm flipV="1">
            <a:off x="3525141" y="4283202"/>
            <a:ext cx="265047" cy="1115100"/>
          </a:xfrm>
          <a:prstGeom prst="bentConnector3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noProof="0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Conocimientos que se podrán adquirir</a:t>
            </a:r>
            <a:endParaRPr lang="es-MX" sz="2400" noProof="0" dirty="0"/>
          </a:p>
        </p:txBody>
      </p:sp>
      <p:sp>
        <p:nvSpPr>
          <p:cNvPr id="6" name="Shape 4"/>
          <p:cNvSpPr/>
          <p:nvPr/>
        </p:nvSpPr>
        <p:spPr>
          <a:xfrm>
            <a:off x="728414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7" name="Shape 5"/>
          <p:cNvSpPr/>
          <p:nvPr/>
        </p:nvSpPr>
        <p:spPr>
          <a:xfrm>
            <a:off x="877824" y="2203704"/>
            <a:ext cx="310896" cy="310896"/>
          </a:xfrm>
          <a:prstGeom prst="ellipse">
            <a:avLst/>
          </a:prstGeom>
          <a:solidFill>
            <a:srgbClr val="D7EEF8"/>
          </a:solidFill>
          <a:ln w="12700">
            <a:solidFill>
              <a:srgbClr val="D7EEF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6"/>
          <p:cNvSpPr/>
          <p:nvPr/>
        </p:nvSpPr>
        <p:spPr>
          <a:xfrm>
            <a:off x="1280160" y="2176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Inteligencia Artificial</a:t>
            </a:r>
            <a:endParaRPr lang="es-MX" sz="1600" noProof="0" dirty="0"/>
          </a:p>
        </p:txBody>
      </p:sp>
      <p:sp>
        <p:nvSpPr>
          <p:cNvPr id="9" name="Text 7"/>
          <p:cNvSpPr/>
          <p:nvPr/>
        </p:nvSpPr>
        <p:spPr>
          <a:xfrm>
            <a:off x="877824" y="2560320"/>
            <a:ext cx="488289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s-MX" sz="1320" noProof="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Redes neuronales, modelos de mundo, aprendizaje reforzado, entrenamiento por imitación.</a:t>
            </a:r>
            <a:endParaRPr lang="es-MX" sz="1320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Shape 9"/>
          <p:cNvSpPr/>
          <p:nvPr/>
        </p:nvSpPr>
        <p:spPr>
          <a:xfrm>
            <a:off x="6428232" y="2203704"/>
            <a:ext cx="310896" cy="310896"/>
          </a:xfrm>
          <a:prstGeom prst="ellipse">
            <a:avLst/>
          </a:prstGeom>
          <a:solidFill>
            <a:srgbClr val="E7F7EF"/>
          </a:solidFill>
          <a:ln w="12700">
            <a:solidFill>
              <a:srgbClr val="E7F7EF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2" name="Text 10"/>
          <p:cNvSpPr/>
          <p:nvPr/>
        </p:nvSpPr>
        <p:spPr>
          <a:xfrm>
            <a:off x="6830568" y="21762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y simulación</a:t>
            </a:r>
            <a:endParaRPr lang="es-MX" sz="1600" noProof="0" dirty="0"/>
          </a:p>
        </p:txBody>
      </p:sp>
      <p:sp>
        <p:nvSpPr>
          <p:cNvPr id="13" name="Text 11"/>
          <p:cNvSpPr/>
          <p:nvPr/>
        </p:nvSpPr>
        <p:spPr>
          <a:xfrm>
            <a:off x="6428232" y="2560320"/>
            <a:ext cx="488289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s-MX" sz="1320" noProof="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Cinemática, dinámica y validación en simuladores de robótica.</a:t>
            </a:r>
            <a:endParaRPr lang="es-MX" sz="1320" noProof="0" dirty="0"/>
          </a:p>
        </p:txBody>
      </p:sp>
      <p:sp>
        <p:nvSpPr>
          <p:cNvPr id="14" name="Shape 12"/>
          <p:cNvSpPr/>
          <p:nvPr/>
        </p:nvSpPr>
        <p:spPr>
          <a:xfrm>
            <a:off x="713232" y="3749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5" name="Shape 13"/>
          <p:cNvSpPr/>
          <p:nvPr/>
        </p:nvSpPr>
        <p:spPr>
          <a:xfrm>
            <a:off x="877824" y="3895344"/>
            <a:ext cx="310896" cy="310896"/>
          </a:xfrm>
          <a:prstGeom prst="ellipse">
            <a:avLst/>
          </a:prstGeom>
          <a:solidFill>
            <a:srgbClr val="F7E8B6"/>
          </a:solidFill>
          <a:ln w="12700">
            <a:solidFill>
              <a:srgbClr val="F7E8B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6" name="Text 14"/>
          <p:cNvSpPr/>
          <p:nvPr/>
        </p:nvSpPr>
        <p:spPr>
          <a:xfrm>
            <a:off x="1280160" y="3867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y adquisición</a:t>
            </a:r>
            <a:endParaRPr lang="es-MX" sz="1600" noProof="0" dirty="0"/>
          </a:p>
        </p:txBody>
      </p:sp>
      <p:sp>
        <p:nvSpPr>
          <p:cNvPr id="17" name="Text 15"/>
          <p:cNvSpPr/>
          <p:nvPr/>
        </p:nvSpPr>
        <p:spPr>
          <a:xfrm>
            <a:off x="877824" y="4251960"/>
            <a:ext cx="488289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s-MX" sz="1320" noProof="0" dirty="0" err="1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sEMG</a:t>
            </a:r>
            <a:r>
              <a:rPr lang="es-MX" sz="1320" noProof="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integración mecatrónica, montaje de la prótesis, modelado y impresión 3D.</a:t>
            </a:r>
            <a:endParaRPr lang="es-MX" sz="1320" noProof="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21208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Shape 17"/>
          <p:cNvSpPr/>
          <p:nvPr/>
        </p:nvSpPr>
        <p:spPr>
          <a:xfrm>
            <a:off x="6428232" y="3895344"/>
            <a:ext cx="310896" cy="310896"/>
          </a:xfrm>
          <a:prstGeom prst="ellipse">
            <a:avLst/>
          </a:prstGeom>
          <a:solidFill>
            <a:srgbClr val="E7ECF6"/>
          </a:solidFill>
          <a:ln w="12700">
            <a:solidFill>
              <a:srgbClr val="E7ECF6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0" name="Text 18"/>
          <p:cNvSpPr/>
          <p:nvPr/>
        </p:nvSpPr>
        <p:spPr>
          <a:xfrm>
            <a:off x="6830568" y="38679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abierto y validación</a:t>
            </a:r>
            <a:endParaRPr lang="es-MX" sz="1600" noProof="0" dirty="0"/>
          </a:p>
        </p:txBody>
      </p:sp>
      <p:sp>
        <p:nvSpPr>
          <p:cNvPr id="21" name="Text 19"/>
          <p:cNvSpPr/>
          <p:nvPr/>
        </p:nvSpPr>
        <p:spPr>
          <a:xfrm>
            <a:off x="6428232" y="4251960"/>
            <a:ext cx="4882896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s-MX" sz="1320" noProof="0" dirty="0" err="1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</a:t>
            </a:r>
            <a:r>
              <a:rPr lang="es-MX" sz="1320" noProof="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documentación, repositorios, protocolos reproducibles y publicaciones científicas.</a:t>
            </a:r>
            <a:endParaRPr lang="es-MX" sz="1320" noProof="0" dirty="0"/>
          </a:p>
        </p:txBody>
      </p:sp>
      <p:sp>
        <p:nvSpPr>
          <p:cNvPr id="22" name="Shape 20"/>
          <p:cNvSpPr/>
          <p:nvPr/>
        </p:nvSpPr>
        <p:spPr>
          <a:xfrm>
            <a:off x="3474720" y="5806440"/>
            <a:ext cx="521208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FC7E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0" y="59618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4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si te interesan IA, robótica, teoría de control, simulación o hardware.</a:t>
            </a:r>
            <a:endParaRPr lang="es-MX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/>
          <p:cNvSpPr/>
          <p:nvPr/>
        </p:nvSpPr>
        <p:spPr>
          <a:xfrm>
            <a:off x="658368" y="713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noProof="0" dirty="0">
                <a:solidFill>
                  <a:srgbClr val="172A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Plataforma de trabajo</a:t>
            </a:r>
          </a:p>
        </p:txBody>
      </p:sp>
      <p:sp>
        <p:nvSpPr>
          <p:cNvPr id="5" name="Text 3"/>
          <p:cNvSpPr/>
          <p:nvPr/>
        </p:nvSpPr>
        <p:spPr>
          <a:xfrm>
            <a:off x="658368" y="1572768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650" noProof="0" dirty="0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plataforma combina prótesis abierta, sensores de </a:t>
            </a:r>
            <a:r>
              <a:rPr lang="es-MX" sz="1650" noProof="0" dirty="0" err="1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sEMG</a:t>
            </a:r>
            <a:r>
              <a:rPr lang="es-MX" sz="1650" noProof="0" dirty="0">
                <a:solidFill>
                  <a:srgbClr val="5F6F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y experimentación reproducible.</a:t>
            </a:r>
            <a:endParaRPr lang="es-MX" sz="1650" noProof="0" dirty="0"/>
          </a:p>
        </p:txBody>
      </p:sp>
      <p:sp>
        <p:nvSpPr>
          <p:cNvPr id="6" name="Shape 4"/>
          <p:cNvSpPr/>
          <p:nvPr/>
        </p:nvSpPr>
        <p:spPr>
          <a:xfrm>
            <a:off x="713232" y="2687955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4227593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50" b="1" noProof="0" dirty="0" err="1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r>
              <a:rPr lang="es-MX" sz="115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s-MX" sz="1150" b="1" noProof="0" dirty="0" err="1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Amazing</a:t>
            </a:r>
            <a:r>
              <a:rPr lang="es-MX" sz="115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Hand</a:t>
            </a:r>
            <a:endParaRPr lang="es-MX" sz="1150" noProof="0" dirty="0"/>
          </a:p>
        </p:txBody>
      </p:sp>
      <p:sp>
        <p:nvSpPr>
          <p:cNvPr id="9" name="Shape 6"/>
          <p:cNvSpPr/>
          <p:nvPr/>
        </p:nvSpPr>
        <p:spPr>
          <a:xfrm>
            <a:off x="3127248" y="2687955"/>
            <a:ext cx="2240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1" name="Text 7"/>
          <p:cNvSpPr/>
          <p:nvPr/>
        </p:nvSpPr>
        <p:spPr>
          <a:xfrm>
            <a:off x="3236976" y="4227593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5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Exoesqueleto open-</a:t>
            </a:r>
            <a:r>
              <a:rPr lang="es-MX" sz="1150" b="1" noProof="0" dirty="0" err="1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s-MX" sz="1150" noProof="0" dirty="0"/>
          </a:p>
        </p:txBody>
      </p:sp>
      <p:sp>
        <p:nvSpPr>
          <p:cNvPr id="12" name="Shape 8"/>
          <p:cNvSpPr/>
          <p:nvPr/>
        </p:nvSpPr>
        <p:spPr>
          <a:xfrm>
            <a:off x="2116836" y="4663059"/>
            <a:ext cx="224028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4" name="Text 9"/>
          <p:cNvSpPr/>
          <p:nvPr/>
        </p:nvSpPr>
        <p:spPr>
          <a:xfrm>
            <a:off x="2226564" y="6001529"/>
            <a:ext cx="2020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MX" sz="115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Sensores de </a:t>
            </a:r>
            <a:r>
              <a:rPr lang="es-MX" sz="1150" b="1" noProof="0" dirty="0" err="1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sEMG</a:t>
            </a:r>
            <a:endParaRPr lang="es-MX" sz="1150" noProof="0" dirty="0"/>
          </a:p>
        </p:txBody>
      </p:sp>
      <p:sp>
        <p:nvSpPr>
          <p:cNvPr id="18" name="Shape 12"/>
          <p:cNvSpPr/>
          <p:nvPr/>
        </p:nvSpPr>
        <p:spPr>
          <a:xfrm>
            <a:off x="5806440" y="2733675"/>
            <a:ext cx="5532120" cy="19675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19" name="Text 13"/>
          <p:cNvSpPr/>
          <p:nvPr/>
        </p:nvSpPr>
        <p:spPr>
          <a:xfrm>
            <a:off x="6053328" y="2962275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700" b="1" noProof="0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Características:</a:t>
            </a:r>
            <a:endParaRPr lang="es-MX" sz="1700" noProof="0" dirty="0"/>
          </a:p>
        </p:txBody>
      </p:sp>
      <p:sp>
        <p:nvSpPr>
          <p:cNvPr id="20" name="Text 14"/>
          <p:cNvSpPr/>
          <p:nvPr/>
        </p:nvSpPr>
        <p:spPr>
          <a:xfrm>
            <a:off x="6108192" y="3133853"/>
            <a:ext cx="4937760" cy="15674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s-MX" sz="1520" noProof="0" dirty="0">
                <a:solidFill>
                  <a:srgbClr val="2734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Plataforma abierta y bien documentada
• Hardware relativamente accesible y replicable
• Operación en tareas cotidianas
• Proyecto práctico y teórico</a:t>
            </a:r>
            <a:endParaRPr lang="es-MX" sz="1520" noProof="0" dirty="0"/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7459A231-138A-2934-531A-040817632D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42" t="11462" r="32315" b="11915"/>
          <a:stretch>
            <a:fillRect/>
          </a:stretch>
        </p:blipFill>
        <p:spPr bwMode="auto">
          <a:xfrm>
            <a:off x="1321179" y="2733675"/>
            <a:ext cx="1024386" cy="1500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id="{61E38B3F-6EDE-E9B2-CB98-4307414EA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459" y="2843701"/>
            <a:ext cx="1390103" cy="139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A3B814D7-CFA5-4812-F222-6C6FAFDC9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147" y="4785993"/>
            <a:ext cx="1521188" cy="12024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E1C6A-679A-6A32-EF56-B5D6F8825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E14C09FB-3867-43A1-3B00-C27C00EBFD46}"/>
              </a:ext>
            </a:extLst>
          </p:cNvPr>
          <p:cNvSpPr/>
          <p:nvPr/>
        </p:nvSpPr>
        <p:spPr>
          <a:xfrm>
            <a:off x="658368" y="566928"/>
            <a:ext cx="10881360" cy="0"/>
          </a:xfrm>
          <a:prstGeom prst="line">
            <a:avLst/>
          </a:prstGeom>
          <a:noFill/>
          <a:ln w="1905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A14E73-0B2F-BD20-993F-502BB81D0C96}"/>
              </a:ext>
            </a:extLst>
          </p:cNvPr>
          <p:cNvSpPr/>
          <p:nvPr/>
        </p:nvSpPr>
        <p:spPr>
          <a:xfrm>
            <a:off x="658368" y="713232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400" b="1" dirty="0">
                <a:solidFill>
                  <a:srgbClr val="172A36"/>
                </a:solidFill>
                <a:latin typeface="Aptos Display" pitchFamily="34" charset="0"/>
              </a:rPr>
              <a:t>Estado actual</a:t>
            </a:r>
            <a:endParaRPr lang="es-MX" sz="2400" noProof="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D56FF546-18D4-2D5A-30F2-2CAD56F5CB2D}"/>
              </a:ext>
            </a:extLst>
          </p:cNvPr>
          <p:cNvSpPr/>
          <p:nvPr/>
        </p:nvSpPr>
        <p:spPr>
          <a:xfrm>
            <a:off x="3831336" y="4714720"/>
            <a:ext cx="4798012" cy="88696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8FC7E8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8A1F7466-DF1D-D682-EF52-7B4E6E0CDB98}"/>
              </a:ext>
            </a:extLst>
          </p:cNvPr>
          <p:cNvSpPr/>
          <p:nvPr/>
        </p:nvSpPr>
        <p:spPr>
          <a:xfrm>
            <a:off x="4059936" y="4861249"/>
            <a:ext cx="4545485" cy="5971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s-MX" sz="1500" b="1" dirty="0">
                <a:solidFill>
                  <a:srgbClr val="0563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jorge.armando.ramirez.diaz@uaq.edu.</a:t>
            </a:r>
            <a:r>
              <a:rPr lang="es-MX" sz="1500" b="1" dirty="0">
                <a:solidFill>
                  <a:srgbClr val="0070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mx juvenal@uaq.edu.mx </a:t>
            </a:r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EDEF6F9E-1F3F-68A6-0539-44294BA6E010}"/>
              </a:ext>
            </a:extLst>
          </p:cNvPr>
          <p:cNvSpPr/>
          <p:nvPr/>
        </p:nvSpPr>
        <p:spPr>
          <a:xfrm>
            <a:off x="658368" y="1855639"/>
            <a:ext cx="5532120" cy="19675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044E5C6E-4FE5-05A8-6CA4-EE51F607CD35}"/>
              </a:ext>
            </a:extLst>
          </p:cNvPr>
          <p:cNvSpPr/>
          <p:nvPr/>
        </p:nvSpPr>
        <p:spPr>
          <a:xfrm>
            <a:off x="960120" y="2136006"/>
            <a:ext cx="4937760" cy="15674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Actualmente se tiene este avance: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Articulo científico de revisión sometido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Exoesqueleto en proceso de instrumentación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Iniciando diseños preliminares de modelo de percepción</a:t>
            </a:r>
          </a:p>
        </p:txBody>
      </p:sp>
      <p:sp>
        <p:nvSpPr>
          <p:cNvPr id="6" name="Shape 12">
            <a:extLst>
              <a:ext uri="{FF2B5EF4-FFF2-40B4-BE49-F238E27FC236}">
                <a16:creationId xmlns:a16="http://schemas.microsoft.com/office/drawing/2014/main" id="{59342722-9145-D615-4A68-C73AEF3D720A}"/>
              </a:ext>
            </a:extLst>
          </p:cNvPr>
          <p:cNvSpPr/>
          <p:nvPr/>
        </p:nvSpPr>
        <p:spPr>
          <a:xfrm>
            <a:off x="6321879" y="1855639"/>
            <a:ext cx="5532120" cy="196759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6EC"/>
            </a:solidFill>
            <a:prstDash val="solid"/>
          </a:ln>
        </p:spPr>
        <p:txBody>
          <a:bodyPr/>
          <a:lstStyle/>
          <a:p>
            <a:endParaRPr lang="es-MX" noProof="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7D423725-9043-5932-3C1F-ABCEEF0C4A2C}"/>
              </a:ext>
            </a:extLst>
          </p:cNvPr>
          <p:cNvSpPr/>
          <p:nvPr/>
        </p:nvSpPr>
        <p:spPr>
          <a:xfrm>
            <a:off x="6692226" y="2203443"/>
            <a:ext cx="4937760" cy="15674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Buscamos estudiantes con ganas de aprender y construir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social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Estadías de investigación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de titulación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rgbClr val="172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Posgrado</a:t>
            </a:r>
          </a:p>
          <a:p>
            <a:endParaRPr lang="es-MX" sz="1600" dirty="0"/>
          </a:p>
        </p:txBody>
      </p:sp>
    </p:spTree>
    <p:extLst>
      <p:ext uri="{BB962C8B-B14F-4D97-AF65-F5344CB8AC3E}">
        <p14:creationId xmlns:p14="http://schemas.microsoft.com/office/powerpoint/2010/main" val="3793745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356</Words>
  <Application>Microsoft Office PowerPoint</Application>
  <PresentationFormat>Panorámica</PresentationFormat>
  <Paragraphs>62</Paragraphs>
  <Slides>6</Slides>
  <Notes>6</Notes>
  <HiddenSlides>0</HiddenSlides>
  <MMClips>2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y control para una prótesis robótica accesible</dc:title>
  <dc:subject>Presentación breve para atraer estudiantes</dc:subject>
  <dc:creator>OpenAI</dc:creator>
  <cp:lastModifiedBy>Jorge Armando Ramirez Diaz</cp:lastModifiedBy>
  <cp:revision>3</cp:revision>
  <dcterms:created xsi:type="dcterms:W3CDTF">2026-04-19T20:47:33Z</dcterms:created>
  <dcterms:modified xsi:type="dcterms:W3CDTF">2026-08-03T19:21:23Z</dcterms:modified>
</cp:coreProperties>
</file>